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twork size (E2)" id="{BD898679-0C7B-479D-A6B8-B7C7708539CB}">
          <p14:sldIdLst>
            <p14:sldId id="256"/>
            <p14:sldId id="257"/>
            <p14:sldId id="258"/>
            <p14:sldId id="259"/>
            <p14:sldId id="260"/>
          </p14:sldIdLst>
        </p14:section>
        <p14:section name="Network size: backup" id="{D38E3FF4-0610-461D-A954-FF092B24B6EE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Memory (of 144 KiB)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95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0.08355034722222222</c:v>
                </c:pt>
                <c:pt idx="1">
                  <c:v>0.16710069444444445</c:v>
                </c:pt>
                <c:pt idx="2">
                  <c:v>0.3350694444444444</c:v>
                </c:pt>
                <c:pt idx="3">
                  <c:v>0.5026041666666666</c:v>
                </c:pt>
                <c:pt idx="4">
                  <c:v>0.6701388888888888</c:v>
                </c:pt>
                <c:pt idx="5">
                  <c:v>0.8376736111111112</c:v>
                </c:pt>
                <c:pt idx="6">
                  <c:v>0.9947374131944444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Processing time (of 250 ms)</c:v>
                </c:pt>
              </c:strCache>
            </c:strRef>
          </c:tx>
          <c:spPr>
            <a:ln w="31750">
              <a:solidFill>
                <a:schemeClr val="accent2"/>
              </a:solidFill>
            </a:ln>
          </c:spPr>
          <c:marker>
            <c:symbol val="circle"/>
            <c:size val="9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marker>
          <c:dLbls>
            <c:dLbl>
              <c:idx val="6"/>
              <c:tx>
                <c:rich>
                  <a:bodyPr/>
                  <a:lstStyle/>
                  <a:p>
                    <a:r>
                      <a:rPr sz="1300" b="1">
                        <a:solidFill>
                          <a:schemeClr val="tx2"/>
                        </a:solidFill>
                      </a:rPr>
                      <a:t>35.5%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Sheet1!$A$11:$A$17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95</c:v>
                </c:pt>
              </c:numCache>
            </c:numRef>
          </c:xVal>
          <c:yVal>
            <c:numRef>
              <c:f>Sheet1!$B$11:$B$17</c:f>
              <c:numCache>
                <c:formatCode>General</c:formatCode>
                <c:ptCount val="7"/>
                <c:pt idx="0">
                  <c:v>0.02946</c:v>
                </c:pt>
                <c:pt idx="1">
                  <c:v>0.05898441333332</c:v>
                </c:pt>
                <c:pt idx="2">
                  <c:v>0.11981892</c:v>
                </c:pt>
                <c:pt idx="3">
                  <c:v>0.17954164</c:v>
                </c:pt>
                <c:pt idx="4">
                  <c:v>0.23919950666668002</c:v>
                </c:pt>
                <c:pt idx="5">
                  <c:v>0.29898553333332</c:v>
                </c:pt>
                <c:pt idx="6">
                  <c:v>0.35505193333332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Sheet1!$B$19</c:f>
              <c:strCache>
                <c:ptCount val="1"/>
                <c:pt idx="0">
                  <c:v>Limit</c:v>
                </c:pt>
              </c:strCache>
            </c:strRef>
          </c:tx>
          <c:spPr>
            <a:ln w="22225">
              <a:solidFill>
                <a:schemeClr val="accent5"/>
              </a:solidFill>
              <a:prstDash val="dash"/>
            </a:ln>
          </c:spPr>
          <c:marker>
            <c:symbol val="none"/>
          </c:marker>
          <c:xVal>
            <c:numRef>
              <c:f>Sheet1!$A$20:$A$21</c:f>
              <c:numCache>
                <c:formatCode>General</c:formatCode>
                <c:ptCount val="2"/>
                <c:pt idx="0">
                  <c:v>0</c:v>
                </c:pt>
                <c:pt idx="1">
                  <c:v>104</c:v>
                </c:pt>
              </c:numCache>
            </c:numRef>
          </c:xVal>
          <c:yVal>
            <c:numRef>
              <c:f>Sheet1!$B$20:$B$21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4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chemeClr val="tx1">
                        <a:lumMod val="70000"/>
                        <a:lumOff val="30000"/>
                      </a:schemeClr>
                    </a:solidFill>
                  </a:rPr>
                  <a:t>hidden neurons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29643912"/>
        <c:crosses val="autoZero"/>
        <c:crossBetween val="midCat"/>
        <c:majorUnit val="16.0"/>
      </c:valAx>
      <c:valAx>
        <c:axId val="-2129643912"/>
        <c:scaling>
          <c:orientation val="minMax"/>
          <c:max val="1.1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chemeClr val="tx1">
                        <a:lumMod val="70000"/>
                        <a:lumOff val="30000"/>
                      </a:schemeClr>
                    </a:solidFill>
                  </a:rPr>
                  <a:t>share of the platform limit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28940872"/>
        <c:crosses val="autoZero"/>
        <c:crossBetween val="midCat"/>
        <c:majorUnit val="0.2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chemeClr val="tx1">
              <a:lumMod val="70000"/>
              <a:lumOff val="30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score, test clips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chemeClr val="tx2"/>
                        </a:solidFill>
                      </a:rPr>
                      <a:t>69%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300" b="1">
                        <a:solidFill>
                          <a:schemeClr val="tx2"/>
                        </a:solidFill>
                      </a:rPr>
                      <a:t>78%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7"/>
                <c:pt idx="0">
                  <c:v>0.074493</c:v>
                </c:pt>
                <c:pt idx="1">
                  <c:v>0.036060</c:v>
                </c:pt>
                <c:pt idx="2">
                  <c:v>0.035892</c:v>
                </c:pt>
                <c:pt idx="3">
                  <c:v>0.005828</c:v>
                </c:pt>
                <c:pt idx="4">
                  <c:v>0.014821</c:v>
                </c:pt>
                <c:pt idx="5">
                  <c:v>0.017883</c:v>
                </c:pt>
                <c:pt idx="6">
                  <c:v>0.003365</c:v>
                </c:pt>
              </c:numLit>
            </c:plus>
            <c:minus>
              <c:numLit>
                <c:formatCode>General</c:formatCode>
                <c:ptCount val="7"/>
                <c:pt idx="0">
                  <c:v>0.074493</c:v>
                </c:pt>
                <c:pt idx="1">
                  <c:v>0.036060</c:v>
                </c:pt>
                <c:pt idx="2">
                  <c:v>0.035892</c:v>
                </c:pt>
                <c:pt idx="3">
                  <c:v>0.005828</c:v>
                </c:pt>
                <c:pt idx="4">
                  <c:v>0.014821</c:v>
                </c:pt>
                <c:pt idx="5">
                  <c:v>0.017883</c:v>
                </c:pt>
                <c:pt idx="6">
                  <c:v>0.003365</c:v>
                </c:pt>
              </c:numLit>
            </c:minus>
            <c:spPr>
              <a:ln w="19050">
                <a:solidFill>
                  <a:schemeClr val="accent1"/>
                </a:solidFill>
              </a:ln>
            </c:spPr>
          </c:errBars>
          <c:xVal>
            <c:numRef>
              <c:f>Sheet1!$A$2:$A$8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95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0.690467</c:v>
                </c:pt>
                <c:pt idx="1">
                  <c:v>0.764467</c:v>
                </c:pt>
                <c:pt idx="2">
                  <c:v>0.759833</c:v>
                </c:pt>
                <c:pt idx="3">
                  <c:v>0.7898</c:v>
                </c:pt>
                <c:pt idx="4">
                  <c:v>0.763933</c:v>
                </c:pt>
                <c:pt idx="5">
                  <c:v>0.774533</c:v>
                </c:pt>
                <c:pt idx="6">
                  <c:v>0.781033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"Sheila" detected, live stream (2 of 3)</c:v>
                </c:pt>
              </c:strCache>
            </c:strRef>
          </c:tx>
          <c:spPr>
            <a:ln w="31750">
              <a:solidFill>
                <a:schemeClr val="accent2"/>
              </a:solidFill>
            </a:ln>
          </c:spPr>
          <c:marker>
            <c:symbol val="square"/>
            <c:size val="9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chemeClr val="tx2"/>
                        </a:solidFill>
                      </a:rPr>
                      <a:t>51%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300" b="1">
                        <a:solidFill>
                          <a:schemeClr val="tx2"/>
                        </a:solidFill>
                      </a:rPr>
                      <a:t>61%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7"/>
                <c:pt idx="0">
                  <c:v>0.066105</c:v>
                </c:pt>
                <c:pt idx="1">
                  <c:v>0.032088</c:v>
                </c:pt>
                <c:pt idx="2">
                  <c:v>0.085615</c:v>
                </c:pt>
                <c:pt idx="3">
                  <c:v>0.012435</c:v>
                </c:pt>
                <c:pt idx="4">
                  <c:v>0.025985</c:v>
                </c:pt>
                <c:pt idx="5">
                  <c:v>0.021636</c:v>
                </c:pt>
                <c:pt idx="6">
                  <c:v>0.028430</c:v>
                </c:pt>
              </c:numLit>
            </c:plus>
            <c:minus>
              <c:numLit>
                <c:formatCode>General</c:formatCode>
                <c:ptCount val="7"/>
                <c:pt idx="0">
                  <c:v>0.066105</c:v>
                </c:pt>
                <c:pt idx="1">
                  <c:v>0.032088</c:v>
                </c:pt>
                <c:pt idx="2">
                  <c:v>0.085615</c:v>
                </c:pt>
                <c:pt idx="3">
                  <c:v>0.012435</c:v>
                </c:pt>
                <c:pt idx="4">
                  <c:v>0.025985</c:v>
                </c:pt>
                <c:pt idx="5">
                  <c:v>0.021636</c:v>
                </c:pt>
                <c:pt idx="6">
                  <c:v>0.028430</c:v>
                </c:pt>
              </c:numLit>
            </c:minus>
            <c:spPr>
              <a:ln w="19050">
                <a:solidFill>
                  <a:schemeClr val="accent2"/>
                </a:solidFill>
              </a:ln>
            </c:spPr>
          </c:errBars>
          <c:xVal>
            <c:numRef>
              <c:f>Sheet1!$A$11:$A$17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95</c:v>
                </c:pt>
              </c:numCache>
            </c:numRef>
          </c:xVal>
          <c:yVal>
            <c:numRef>
              <c:f>Sheet1!$B$11:$B$17</c:f>
              <c:numCache>
                <c:formatCode>General</c:formatCode>
                <c:ptCount val="7"/>
                <c:pt idx="0">
                  <c:v>0.511</c:v>
                </c:pt>
                <c:pt idx="1">
                  <c:v>0.611633</c:v>
                </c:pt>
                <c:pt idx="2">
                  <c:v>0.5975</c:v>
                </c:pt>
                <c:pt idx="3">
                  <c:v>0.6368</c:v>
                </c:pt>
                <c:pt idx="4">
                  <c:v>0.544067</c:v>
                </c:pt>
                <c:pt idx="5">
                  <c:v>0.6085</c:v>
                </c:pt>
                <c:pt idx="6">
                  <c:v>0.605367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4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chemeClr val="tx1">
                        <a:lumMod val="70000"/>
                        <a:lumOff val="30000"/>
                      </a:schemeClr>
                    </a:solidFill>
                  </a:rPr>
                  <a:t>hidden neurons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29643912"/>
        <c:crosses val="autoZero"/>
        <c:crossBetween val="midCat"/>
        <c:majorUnit val="16.0"/>
      </c:valAx>
      <c:valAx>
        <c:axId val="-2129643912"/>
        <c:scaling>
          <c:orientation val="minMax"/>
          <c:max val="1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chemeClr val="tx1">
                        <a:lumMod val="70000"/>
                        <a:lumOff val="30000"/>
                      </a:schemeClr>
                    </a:solidFill>
                  </a:rPr>
                  <a:t>F1 score / detection rate (%)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28940872"/>
        <c:crosses val="autoZero"/>
        <c:crossBetween val="midCat"/>
        <c:majorUnit val="0.2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chemeClr val="tx1">
              <a:lumMod val="70000"/>
              <a:lumOff val="30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"shee" + another word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95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0.391467</c:v>
                </c:pt>
                <c:pt idx="1">
                  <c:v>0.3721</c:v>
                </c:pt>
                <c:pt idx="2">
                  <c:v>0.3566</c:v>
                </c:pt>
                <c:pt idx="3">
                  <c:v>0.405067</c:v>
                </c:pt>
                <c:pt idx="4">
                  <c:v>0.329433</c:v>
                </c:pt>
                <c:pt idx="5">
                  <c:v>0.354667</c:v>
                </c:pt>
                <c:pt idx="6">
                  <c:v>0.344933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she-, sheet, shield, Sheena (computer voices)</c:v>
                </c:pt>
              </c:strCache>
            </c:strRef>
          </c:tx>
          <c:spPr>
            <a:ln w="31750">
              <a:solidFill>
                <a:schemeClr val="accent2"/>
              </a:solidFill>
            </a:ln>
          </c:spPr>
          <c:marker>
            <c:symbol val="square"/>
            <c:size val="9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marker>
          <c:xVal>
            <c:numRef>
              <c:f>Sheet1!$A$11:$A$17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95</c:v>
                </c:pt>
              </c:numCache>
            </c:numRef>
          </c:xVal>
          <c:yVal>
            <c:numRef>
              <c:f>Sheet1!$B$11:$B$17</c:f>
              <c:numCache>
                <c:formatCode>General</c:formatCode>
                <c:ptCount val="7"/>
                <c:pt idx="0">
                  <c:v>0.310433</c:v>
                </c:pt>
                <c:pt idx="1">
                  <c:v>0.3382</c:v>
                </c:pt>
                <c:pt idx="2">
                  <c:v>0.3028</c:v>
                </c:pt>
                <c:pt idx="3">
                  <c:v>0.3132</c:v>
                </c:pt>
                <c:pt idx="4">
                  <c:v>0.3153</c:v>
                </c:pt>
                <c:pt idx="5">
                  <c:v>0.289567</c:v>
                </c:pt>
                <c:pt idx="6">
                  <c:v>0.319467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Sheet1!$B$19</c:f>
              <c:strCache>
                <c:ptCount val="1"/>
                <c:pt idx="0">
                  <c:v>another start + "eila"</c:v>
                </c:pt>
              </c:strCache>
            </c:strRef>
          </c:tx>
          <c:spPr>
            <a:ln w="31750">
              <a:solidFill>
                <a:schemeClr val="accent3"/>
              </a:solidFill>
            </a:ln>
          </c:spPr>
          <c:marker>
            <c:symbol val="triangle"/>
            <c:size val="9"/>
            <c:spPr>
              <a:solidFill>
                <a:schemeClr val="accent3"/>
              </a:solidFill>
              <a:ln w="19050">
                <a:solidFill>
                  <a:srgbClr val="FFFFFF"/>
                </a:solidFill>
              </a:ln>
            </c:spPr>
          </c:marker>
          <c:xVal>
            <c:numRef>
              <c:f>Sheet1!$A$20:$A$26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95</c:v>
                </c:pt>
              </c:numCache>
            </c:numRef>
          </c:xVal>
          <c:yVal>
            <c:numRef>
              <c:f>Sheet1!$B$20:$B$26</c:f>
              <c:numCache>
                <c:formatCode>General</c:formatCode>
                <c:ptCount val="7"/>
                <c:pt idx="0">
                  <c:v>0.2922</c:v>
                </c:pt>
                <c:pt idx="1">
                  <c:v>0.339467</c:v>
                </c:pt>
                <c:pt idx="2">
                  <c:v>0.3045</c:v>
                </c:pt>
                <c:pt idx="3">
                  <c:v>0.349833</c:v>
                </c:pt>
                <c:pt idx="4">
                  <c:v>0.273667</c:v>
                </c:pt>
                <c:pt idx="5">
                  <c:v>0.337433</c:v>
                </c:pt>
                <c:pt idx="6">
                  <c:v>0.312767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Sheet1!$B$28</c:f>
              <c:strCache>
                <c:ptCount val="1"/>
                <c:pt idx="0">
                  <c:v>"sh" alone</c:v>
                </c:pt>
              </c:strCache>
            </c:strRef>
          </c:tx>
          <c:spPr>
            <a:ln w="31750">
              <a:solidFill>
                <a:schemeClr val="accent6"/>
              </a:solidFill>
            </a:ln>
          </c:spPr>
          <c:marker>
            <c:symbol val="diamond"/>
            <c:size val="9"/>
            <c:spPr>
              <a:solidFill>
                <a:schemeClr val="accent6"/>
              </a:solidFill>
              <a:ln w="19050">
                <a:solidFill>
                  <a:srgbClr val="FFFFFF"/>
                </a:solidFill>
              </a:ln>
            </c:spPr>
          </c:marker>
          <c:xVal>
            <c:numRef>
              <c:f>Sheet1!$A$29:$A$35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  <c:pt idx="5">
                  <c:v>80</c:v>
                </c:pt>
                <c:pt idx="6">
                  <c:v>95</c:v>
                </c:pt>
              </c:numCache>
            </c:numRef>
          </c:xVal>
          <c:yVal>
            <c:numRef>
              <c:f>Sheet1!$B$29:$B$35</c:f>
              <c:numCache>
                <c:formatCode>General</c:formatCode>
                <c:ptCount val="7"/>
                <c:pt idx="0">
                  <c:v>0.007733</c:v>
                </c:pt>
                <c:pt idx="1">
                  <c:v>0.013567</c:v>
                </c:pt>
                <c:pt idx="2">
                  <c:v>0.0116</c:v>
                </c:pt>
                <c:pt idx="3">
                  <c:v>0.017467</c:v>
                </c:pt>
                <c:pt idx="4">
                  <c:v>0.009667</c:v>
                </c:pt>
                <c:pt idx="5">
                  <c:v>0.009667</c:v>
                </c:pt>
                <c:pt idx="6">
                  <c:v>0.009667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4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chemeClr val="tx1">
                        <a:lumMod val="70000"/>
                        <a:lumOff val="30000"/>
                      </a:schemeClr>
                    </a:solidFill>
                  </a:rPr>
                  <a:t>hidden neurons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29643912"/>
        <c:crosses val="autoZero"/>
        <c:crossBetween val="midCat"/>
        <c:majorUnit val="16.0"/>
      </c:valAx>
      <c:valAx>
        <c:axId val="-2129643912"/>
        <c:scaling>
          <c:orientation val="minMax"/>
          <c:max val="0.6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chemeClr val="tx1">
                        <a:lumMod val="70000"/>
                        <a:lumOff val="30000"/>
                      </a:schemeClr>
                    </a:solidFill>
                  </a:rPr>
                  <a:t>share accepted as "Sheila"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28940872"/>
        <c:crosses val="autoZero"/>
        <c:crossBetween val="midCat"/>
        <c:majorUnit val="0.1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chemeClr val="tx1">
              <a:lumMod val="70000"/>
              <a:lumOff val="30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changed one thing only: the number of hidden neurons, from 8 up to 95, the most that fits. Each size was trained three times; everything else stayed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neuron costs one and a half kilobytes and almost a millisecond. At 95 neurons the memory is full, but processing uses only a third of the time per window: memory is the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jumps from 8 to 16 neurons and then stays flat. Above 16, the differences between sizes are smaller than the spread between training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bigger network also does not reject near misses: about a third of words like Sheena or shield still pass, at every size. That needs a network that follows the order of sounds.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48 neurons give the same quality as 95 with half the memory and half the processing time: the efficient size for this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measured accuracy with the F1 score on 11,005 test recordings from speakers the network never heard. F1 combines recall, how many real "Sheila"s it finds, and precision, how often a detection is actually right. We do not use plain accuracy: 98% of the clips are not "Sheila", so always saying "no" would already score 98%. The second line on the quality chart simulates the live demo: the share of real "Sheila"s that would light the 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8640" y="365760"/>
            <a:ext cx="11091672" cy="8229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b="1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size = number of hidden neurons</a:t>
            </a:r>
          </a:p>
        </p:txBody>
      </p:sp>
      <p:pic>
        <p:nvPicPr>
          <p:cNvPr id="3" name="Input pictur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2377440" cy="1783080"/>
          </a:xfrm>
          <a:prstGeom prst="rect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4160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768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70000"/>
                    <a:lumOff val="30000"/>
                  </a:schemeClr>
                </a:solidFill>
              </a:rPr>
              <a:t>1 s sound picture,</a:t>
            </a:r>
          </a:p>
          <a:p>
            <a:pPr algn="l"/>
            <a:r>
              <a:rPr sz="1200" b="0" i="0">
                <a:solidFill>
                  <a:schemeClr val="tx1">
                    <a:lumMod val="70000"/>
                    <a:lumOff val="30000"/>
                  </a:schemeClr>
                </a:solidFill>
              </a:rPr>
              <a:t>24 pitches × 32 time steps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71800" y="1600200"/>
            <a:ext cx="996696" cy="82296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971800" y="1600200"/>
            <a:ext cx="996696" cy="128016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971800" y="1600200"/>
            <a:ext cx="996696" cy="173736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971800" y="1600200"/>
            <a:ext cx="996696" cy="219456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52544" y="1600200"/>
            <a:ext cx="1225296" cy="118872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52544" y="1600200"/>
            <a:ext cx="1225296" cy="246888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71800" y="2148840"/>
            <a:ext cx="996696" cy="27432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71800" y="2148840"/>
            <a:ext cx="996696" cy="73152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971800" y="2148840"/>
            <a:ext cx="996696" cy="118872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971800" y="2148840"/>
            <a:ext cx="996696" cy="164592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52544" y="2148840"/>
            <a:ext cx="1225296" cy="64008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52544" y="2148840"/>
            <a:ext cx="1225296" cy="19202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71800" y="2423160"/>
            <a:ext cx="996696" cy="27432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971800" y="2697480"/>
            <a:ext cx="996696" cy="18288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971800" y="2697480"/>
            <a:ext cx="996696" cy="64008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971800" y="2697480"/>
            <a:ext cx="996696" cy="109728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52544" y="2697480"/>
            <a:ext cx="1225296" cy="914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52544" y="2697480"/>
            <a:ext cx="1225296" cy="137160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1800" y="2423160"/>
            <a:ext cx="996696" cy="82296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71800" y="2880360"/>
            <a:ext cx="996696" cy="36576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71800" y="3246120"/>
            <a:ext cx="996696" cy="914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971800" y="3246120"/>
            <a:ext cx="996696" cy="5486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352544" y="2788920"/>
            <a:ext cx="1225296" cy="45720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52544" y="3246120"/>
            <a:ext cx="1225296" cy="82296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423160"/>
            <a:ext cx="996696" cy="137160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71800" y="2880360"/>
            <a:ext cx="996696" cy="91440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71800" y="3337560"/>
            <a:ext cx="996696" cy="45720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71800" y="3794760"/>
            <a:ext cx="996696" cy="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352544" y="2788920"/>
            <a:ext cx="1225296" cy="10058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352544" y="3794760"/>
            <a:ext cx="1225296" cy="27432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971800" y="2423160"/>
            <a:ext cx="996696" cy="19202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971800" y="2880360"/>
            <a:ext cx="996696" cy="14630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971800" y="3337560"/>
            <a:ext cx="996696" cy="10058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71800" y="3794760"/>
            <a:ext cx="996696" cy="5486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352544" y="2788920"/>
            <a:ext cx="1225296" cy="155448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352544" y="4069080"/>
            <a:ext cx="1225296" cy="27432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971800" y="2423160"/>
            <a:ext cx="996696" cy="28346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971800" y="2880360"/>
            <a:ext cx="996696" cy="23774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71800" y="3337560"/>
            <a:ext cx="996696" cy="19202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971800" y="3794760"/>
            <a:ext cx="996696" cy="146304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352544" y="2788920"/>
            <a:ext cx="1225296" cy="246888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352544" y="4069080"/>
            <a:ext cx="1225296" cy="118872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Hidden neuron"/>
          <p:cNvSpPr/>
          <p:nvPr/>
        </p:nvSpPr>
        <p:spPr>
          <a:xfrm>
            <a:off x="3968496" y="1408176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idden neuron"/>
          <p:cNvSpPr/>
          <p:nvPr/>
        </p:nvSpPr>
        <p:spPr>
          <a:xfrm>
            <a:off x="3968496" y="1956816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idden neuron"/>
          <p:cNvSpPr/>
          <p:nvPr/>
        </p:nvSpPr>
        <p:spPr>
          <a:xfrm>
            <a:off x="3968496" y="2505456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Hidden neuron"/>
          <p:cNvSpPr/>
          <p:nvPr/>
        </p:nvSpPr>
        <p:spPr>
          <a:xfrm>
            <a:off x="3968496" y="3054096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idden neuron"/>
          <p:cNvSpPr/>
          <p:nvPr/>
        </p:nvSpPr>
        <p:spPr>
          <a:xfrm>
            <a:off x="3968496" y="3602736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Hidden neuron"/>
          <p:cNvSpPr/>
          <p:nvPr/>
        </p:nvSpPr>
        <p:spPr>
          <a:xfrm>
            <a:off x="3968496" y="4151376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idden neuron"/>
          <p:cNvSpPr/>
          <p:nvPr/>
        </p:nvSpPr>
        <p:spPr>
          <a:xfrm>
            <a:off x="3968496" y="5065776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128515" y="4649724"/>
            <a:ext cx="64008" cy="64008"/>
          </a:xfrm>
          <a:prstGeom prst="ellipse">
            <a:avLst/>
          </a:prstGeom>
          <a:solidFill>
            <a:schemeClr val="tx2">
              <a:lumMod val="70000"/>
              <a:lumOff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128515" y="4768596"/>
            <a:ext cx="64008" cy="64008"/>
          </a:xfrm>
          <a:prstGeom prst="ellipse">
            <a:avLst/>
          </a:prstGeom>
          <a:solidFill>
            <a:schemeClr val="tx2">
              <a:lumMod val="70000"/>
              <a:lumOff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128515" y="4887468"/>
            <a:ext cx="64008" cy="64008"/>
          </a:xfrm>
          <a:prstGeom prst="ellipse">
            <a:avLst/>
          </a:prstGeom>
          <a:solidFill>
            <a:schemeClr val="tx2">
              <a:lumMod val="70000"/>
              <a:lumOff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63239" y="56235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chemeClr val="tx2"/>
                </a:solidFill>
              </a:rPr>
              <a:t>H hidden neurons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63239" y="5971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chemeClr val="tx1">
                    <a:lumMod val="70000"/>
                    <a:lumOff val="30000"/>
                  </a:schemeClr>
                </a:solidFill>
              </a:rPr>
              <a:t>= the network size</a:t>
            </a:r>
          </a:p>
        </p:txBody>
      </p:sp>
      <p:sp>
        <p:nvSpPr>
          <p:cNvPr id="60" name="Output"/>
          <p:cNvSpPr/>
          <p:nvPr/>
        </p:nvSpPr>
        <p:spPr>
          <a:xfrm>
            <a:off x="5577840" y="256032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53912" y="26060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Sheila</a:t>
            </a:r>
          </a:p>
        </p:txBody>
      </p:sp>
      <p:sp>
        <p:nvSpPr>
          <p:cNvPr id="62" name="Output"/>
          <p:cNvSpPr/>
          <p:nvPr/>
        </p:nvSpPr>
        <p:spPr>
          <a:xfrm>
            <a:off x="5577840" y="384048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53912" y="3886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not Sheila</a:t>
            </a:r>
          </a:p>
        </p:txBody>
      </p:sp>
      <p:sp>
        <p:nvSpPr>
          <p:cNvPr id="64" name="Sizes tested"/>
          <p:cNvSpPr/>
          <p:nvPr/>
        </p:nvSpPr>
        <p:spPr>
          <a:xfrm>
            <a:off x="7726679" y="1463040"/>
            <a:ext cx="3913632" cy="4663440"/>
          </a:xfrm>
          <a:prstGeom prst="roundRect">
            <a:avLst>
              <a:gd name="adj" fmla="val 4205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19" y="1737360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Sizes tested</a:t>
            </a:r>
          </a:p>
        </p:txBody>
      </p:sp>
      <p:sp>
        <p:nvSpPr>
          <p:cNvPr id="66" name="Size 8"/>
          <p:cNvSpPr/>
          <p:nvPr/>
        </p:nvSpPr>
        <p:spPr>
          <a:xfrm>
            <a:off x="8046719" y="2240280"/>
            <a:ext cx="73152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67" name="Size 16"/>
          <p:cNvSpPr/>
          <p:nvPr/>
        </p:nvSpPr>
        <p:spPr>
          <a:xfrm>
            <a:off x="8897111" y="2240280"/>
            <a:ext cx="73152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chemeClr val="tx2"/>
                </a:solidFill>
              </a:rPr>
              <a:t>16</a:t>
            </a:r>
          </a:p>
        </p:txBody>
      </p:sp>
      <p:sp>
        <p:nvSpPr>
          <p:cNvPr id="68" name="Size 32"/>
          <p:cNvSpPr/>
          <p:nvPr/>
        </p:nvSpPr>
        <p:spPr>
          <a:xfrm>
            <a:off x="9747503" y="2240280"/>
            <a:ext cx="73152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chemeClr val="tx2"/>
                </a:solidFill>
              </a:rPr>
              <a:t>32</a:t>
            </a:r>
          </a:p>
        </p:txBody>
      </p:sp>
      <p:sp>
        <p:nvSpPr>
          <p:cNvPr id="69" name="Size 48"/>
          <p:cNvSpPr/>
          <p:nvPr/>
        </p:nvSpPr>
        <p:spPr>
          <a:xfrm>
            <a:off x="10597896" y="2240280"/>
            <a:ext cx="73152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chemeClr val="tx2"/>
                </a:solidFill>
              </a:rPr>
              <a:t>48</a:t>
            </a:r>
          </a:p>
        </p:txBody>
      </p:sp>
      <p:sp>
        <p:nvSpPr>
          <p:cNvPr id="70" name="Size 64"/>
          <p:cNvSpPr/>
          <p:nvPr/>
        </p:nvSpPr>
        <p:spPr>
          <a:xfrm>
            <a:off x="8046719" y="2807208"/>
            <a:ext cx="73152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chemeClr val="tx2"/>
                </a:solidFill>
              </a:rPr>
              <a:t>64</a:t>
            </a:r>
          </a:p>
        </p:txBody>
      </p:sp>
      <p:sp>
        <p:nvSpPr>
          <p:cNvPr id="71" name="Size 80"/>
          <p:cNvSpPr/>
          <p:nvPr/>
        </p:nvSpPr>
        <p:spPr>
          <a:xfrm>
            <a:off x="8897111" y="2807208"/>
            <a:ext cx="73152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chemeClr val="tx2"/>
                </a:solidFill>
              </a:rPr>
              <a:t>80</a:t>
            </a:r>
          </a:p>
        </p:txBody>
      </p:sp>
      <p:sp>
        <p:nvSpPr>
          <p:cNvPr id="72" name="Size 95"/>
          <p:cNvSpPr/>
          <p:nvPr/>
        </p:nvSpPr>
        <p:spPr>
          <a:xfrm>
            <a:off x="9747503" y="2807208"/>
            <a:ext cx="7315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chemeClr val="bg1"/>
                </a:solidFill>
              </a:rPr>
              <a:t>95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19" y="3337560"/>
            <a:ext cx="3273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70000"/>
                    <a:lumOff val="30000"/>
                  </a:schemeClr>
                </a:solidFill>
              </a:rPr>
              <a:t>95 = the most that fits in memory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46719" y="3886200"/>
            <a:ext cx="3273552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3 training runs per size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chemeClr val="tx1">
                    <a:lumMod val="70000"/>
                    <a:lumOff val="30000"/>
                  </a:schemeClr>
                </a:solidFill>
              </a:rPr>
              <a:t>results are the mean ± the spread</a:t>
            </a:r>
          </a:p>
          <a:p>
            <a:pPr algn="l">
              <a:spcBef>
                <a:spcPts val="1400"/>
              </a:spcBef>
            </a:pPr>
            <a:r>
              <a:rPr sz="1600" b="1" i="0">
                <a:solidFill>
                  <a:schemeClr val="tx2"/>
                </a:solidFill>
              </a:rPr>
              <a:t>Everything else identical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chemeClr val="tx1">
                    <a:lumMod val="70000"/>
                    <a:lumOff val="30000"/>
                  </a:schemeClr>
                </a:solidFill>
              </a:rPr>
              <a:t>same data, training and threshold rules</a:t>
            </a:r>
          </a:p>
          <a:p>
            <a:pPr algn="l">
              <a:spcBef>
                <a:spcPts val="1400"/>
              </a:spcBef>
            </a:pPr>
            <a:r>
              <a:rPr sz="1600" b="1" i="0">
                <a:solidFill>
                  <a:schemeClr val="tx2"/>
                </a:solidFill>
              </a:rPr>
              <a:t>All 21 models run on the board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chemeClr val="tx1">
                    <a:lumMod val="70000"/>
                    <a:lumOff val="30000"/>
                  </a:schemeClr>
                </a:solidFill>
              </a:rPr>
              <a:t>results identical to the Python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runs out at 95 neurons, time does not</a:t>
            </a:r>
          </a:p>
        </p:txBody>
      </p:sp>
      <p:graphicFrame>
        <p:nvGraphicFramePr>
          <p:cNvPr id="3" name="Chart"/>
          <p:cNvGraphicFramePr>
            <a:graphicFrameLocks noGrp="1"/>
          </p:cNvGraphicFramePr>
          <p:nvPr/>
        </p:nvGraphicFramePr>
        <p:xfrm>
          <a:off x="548640" y="1325880"/>
          <a:ext cx="740664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Memory per neuron"/>
          <p:cNvSpPr/>
          <p:nvPr/>
        </p:nvSpPr>
        <p:spPr>
          <a:xfrm>
            <a:off x="8275320" y="1463040"/>
            <a:ext cx="3364992" cy="13716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188366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42248" y="1691640"/>
            <a:ext cx="252374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chemeClr val="tx2"/>
                </a:solidFill>
              </a:rPr>
              <a:t>1.5 KiB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313432"/>
            <a:ext cx="281635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memory per neuron</a:t>
            </a:r>
          </a:p>
        </p:txBody>
      </p:sp>
      <p:sp>
        <p:nvSpPr>
          <p:cNvPr id="8" name="Time per neuron"/>
          <p:cNvSpPr/>
          <p:nvPr/>
        </p:nvSpPr>
        <p:spPr>
          <a:xfrm>
            <a:off x="8275320" y="3108960"/>
            <a:ext cx="3364992" cy="13716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3529584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42248" y="3337560"/>
            <a:ext cx="252374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chemeClr val="tx2"/>
                </a:solidFill>
              </a:rPr>
              <a:t>0.93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959352"/>
            <a:ext cx="281635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processing time per neuron</a:t>
            </a:r>
          </a:p>
        </p:txBody>
      </p:sp>
      <p:sp>
        <p:nvSpPr>
          <p:cNvPr id="12" name="Largest size"/>
          <p:cNvSpPr/>
          <p:nvPr/>
        </p:nvSpPr>
        <p:spPr>
          <a:xfrm>
            <a:off x="8275320" y="4754880"/>
            <a:ext cx="3364992" cy="13716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9640" y="5175504"/>
            <a:ext cx="164592" cy="164592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42248" y="4983480"/>
            <a:ext cx="252374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chemeClr val="tx2"/>
                </a:solidFill>
              </a:rPr>
              <a:t>95 neurons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5605272"/>
            <a:ext cx="2816352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memory full, time 35.5% used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chemeClr val="tx1">
                    <a:lumMod val="60000"/>
                    <a:lumOff val="40000"/>
                  </a:schemeClr>
                </a:solidFill>
              </a:rPr>
              <a:t>Processing time: worst case on the board's RISC-V core (plain RV32IM firmware). Memory: the weights in the 144 KiB model 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stops improving after 16 neurons</a:t>
            </a:r>
          </a:p>
        </p:txBody>
      </p:sp>
      <p:graphicFrame>
        <p:nvGraphicFramePr>
          <p:cNvPr id="3" name="Chart"/>
          <p:cNvGraphicFramePr>
            <a:graphicFrameLocks noGrp="1"/>
          </p:cNvGraphicFramePr>
          <p:nvPr/>
        </p:nvGraphicFramePr>
        <p:xfrm>
          <a:off x="548640" y="1325880"/>
          <a:ext cx="11091672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Steep part"/>
          <p:cNvSpPr/>
          <p:nvPr/>
        </p:nvSpPr>
        <p:spPr>
          <a:xfrm>
            <a:off x="548640" y="5074920"/>
            <a:ext cx="5394960" cy="105156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507492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chemeClr val="tx2"/>
                </a:solidFill>
              </a:rPr>
              <a:t>69% → 76%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507492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F1 score from 8 to 16 neurons</a:t>
            </a:r>
          </a:p>
        </p:txBody>
      </p:sp>
      <p:sp>
        <p:nvSpPr>
          <p:cNvPr id="7" name="Plateau"/>
          <p:cNvSpPr/>
          <p:nvPr/>
        </p:nvSpPr>
        <p:spPr>
          <a:xfrm>
            <a:off x="6245352" y="5074920"/>
            <a:ext cx="5394960" cy="105156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507492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chemeClr val="tx2"/>
                </a:solidFill>
              </a:rPr>
              <a:t>flat after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1432" y="507492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differences smaller than the spread of 3 training runs</a:t>
            </a:r>
          </a:p>
        </p:txBody>
      </p:sp>
      <p:sp>
        <p:nvSpPr>
          <p:cNvPr id="10" name="Footnote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chemeClr val="tx1">
                    <a:lumMod val="60000"/>
                    <a:lumOff val="40000"/>
                  </a:schemeClr>
                </a:solidFill>
              </a:rPr>
              <a:t>Mean of 3 training runs per size; bars show ± 1 standard deviation. Live stream: 1 s windows every 250 ms; a detection needs 2 of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neurons do not fix near misses</a:t>
            </a:r>
          </a:p>
        </p:txBody>
      </p:sp>
      <p:sp>
        <p:nvSpPr>
          <p:cNvPr id="3" name="Near-miss callout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chemeClr val="tx2"/>
                </a:solidFill>
              </a:rPr>
              <a:t>≈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of near misses still pass,</a:t>
            </a:r>
          </a:p>
          <a:p>
            <a:pPr algn="l"/>
            <a:r>
              <a:rPr sz="1600" b="1" i="0">
                <a:solidFill>
                  <a:schemeClr val="tx2"/>
                </a:solidFill>
              </a:rPr>
              <a:t>at every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Near misses sound like "Sheila": Sheena, shield, "shee" + another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One dense layer sees the whole second at once, not the order of the sounds.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</a:rPr>
              <a:t>→ needs a network that follows the order of sounds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4434840" y="1325880"/>
          <a:ext cx="7205472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Footnote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chemeClr val="tx1">
                    <a:lumMod val="60000"/>
                    <a:lumOff val="40000"/>
                  </a:schemeClr>
                </a:solidFill>
              </a:rPr>
              <a:t>Accepted at the live threshold: per 1 s window (edited real recordings) or per word with "2 of 3" (computer voices). Mean of 3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48 neurons match 95 with half the memory</a:t>
            </a:r>
          </a:p>
        </p:txBody>
      </p:sp>
      <p:sp>
        <p:nvSpPr>
          <p:cNvPr id="3" name="48 neurons"/>
          <p:cNvSpPr/>
          <p:nvPr/>
        </p:nvSpPr>
        <p:spPr>
          <a:xfrm>
            <a:off x="548640" y="1463040"/>
            <a:ext cx="5349240" cy="4526280"/>
          </a:xfrm>
          <a:prstGeom prst="roundRect">
            <a:avLst>
              <a:gd name="adj" fmla="val 3636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chemeClr val="tx2"/>
                </a:solidFill>
              </a:rPr>
              <a:t>48 neurons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efficient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88036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800" b="1" i="0">
                <a:solidFill>
                  <a:schemeClr val="tx2"/>
                </a:solidFill>
              </a:rPr>
              <a:t>72 KiB (50.3%)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Processing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61188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800" b="1" i="0">
                <a:solidFill>
                  <a:schemeClr val="tx2"/>
                </a:solidFill>
              </a:rPr>
              <a:t>45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F1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34340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800" b="1" i="0">
                <a:solidFill>
                  <a:schemeClr val="tx2"/>
                </a:solidFill>
              </a:rPr>
              <a:t>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Live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07492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800" b="1" i="0">
                <a:solidFill>
                  <a:schemeClr val="tx2"/>
                </a:solidFill>
              </a:rPr>
              <a:t>64%</a:t>
            </a:r>
          </a:p>
        </p:txBody>
      </p:sp>
      <p:sp>
        <p:nvSpPr>
          <p:cNvPr id="14" name="95 neurons"/>
          <p:cNvSpPr/>
          <p:nvPr/>
        </p:nvSpPr>
        <p:spPr>
          <a:xfrm>
            <a:off x="6291072" y="1463040"/>
            <a:ext cx="5349240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691640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chemeClr val="tx2"/>
                </a:solidFill>
              </a:rPr>
              <a:t>95 neurons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2402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deployed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8803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288036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800" b="1" i="0">
                <a:solidFill>
                  <a:schemeClr val="tx2"/>
                </a:solidFill>
              </a:rPr>
              <a:t>143 KiB (99.5%)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611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Processing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361188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800" b="1" i="0">
                <a:solidFill>
                  <a:schemeClr val="tx2"/>
                </a:solidFill>
              </a:rPr>
              <a:t>89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43434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434340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800" b="1" i="0">
                <a:solidFill>
                  <a:schemeClr val="tx2"/>
                </a:solidFill>
              </a:rPr>
              <a:t>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5074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Live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507492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800" b="1" i="0">
                <a:solidFill>
                  <a:schemeClr val="tx2"/>
                </a:solidFill>
              </a:rPr>
              <a:t>61%</a:t>
            </a:r>
          </a:p>
        </p:txBody>
      </p:sp>
      <p:sp>
        <p:nvSpPr>
          <p:cNvPr id="25" name="Footnote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chemeClr val="tx1">
                    <a:lumMod val="60000"/>
                    <a:lumOff val="40000"/>
                  </a:schemeClr>
                </a:solidFill>
              </a:rPr>
              <a:t>48 has the best mean validation F1 (chosen before looking at test results); its quality differences to 95 are within the spread of 3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how accuracy was measured</a:t>
            </a:r>
          </a:p>
        </p:txBody>
      </p:sp>
      <p:graphicFrame>
        <p:nvGraphicFramePr>
          <p:cNvPr id="3" name="Confusion matrix"/>
          <p:cNvGraphicFramePr>
            <a:graphicFrameLocks noGrp="1"/>
          </p:cNvGraphicFramePr>
          <p:nvPr/>
        </p:nvGraphicFramePr>
        <p:xfrm>
          <a:off x="548640" y="1463040"/>
          <a:ext cx="576072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chemeClr val="tx2"/>
                          </a:solidFill>
                        </a:rPr>
                        <a:t/>
                      </a:r>
                    </a:p>
                  </a:txBody>
                  <a:tcPr anchor="ctr" marL="164592" marR="164592" marT="45720" marB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chemeClr val="bg1"/>
                          </a:solidFill>
                        </a:rPr>
                        <a:t>Network says "Sheila"</a:t>
                      </a:r>
                    </a:p>
                  </a:txBody>
                  <a:tcPr anchor="ctr" marL="164592" marR="164592" marT="45720" marB="457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chemeClr val="bg1"/>
                          </a:solidFill>
                        </a:rPr>
                        <a:t>Network says "not Sheila"</a:t>
                      </a:r>
                    </a:p>
                  </a:txBody>
                  <a:tcPr anchor="ctr" marL="164592" marR="164592" marT="45720" marB="45720">
                    <a:solidFill>
                      <a:schemeClr val="tx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tx2"/>
                          </a:solidFill>
                        </a:rPr>
                        <a:t>Really "Sheila"</a:t>
                      </a:r>
                    </a:p>
                    <a:p>
                      <a:pPr algn="l"/>
                      <a:r>
                        <a:rPr sz="1200" b="0">
                          <a:solidFill>
                            <a:schemeClr val="tx2">
                              <a:lumMod val="70000"/>
                              <a:lumOff val="30000"/>
                            </a:schemeClr>
                          </a:solidFill>
                        </a:rPr>
                        <a:t>212 recordings</a:t>
                      </a:r>
                    </a:p>
                  </a:txBody>
                  <a:tcPr anchor="ctr" marL="164592" marR="164592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chemeClr val="tx2"/>
                          </a:solidFill>
                        </a:rPr>
                        <a:t>160</a:t>
                      </a:r>
                    </a:p>
                    <a:p>
                      <a:pPr algn="ctr"/>
                      <a:r>
                        <a:rPr sz="1200" b="0">
                          <a:solidFill>
                            <a:schemeClr val="tx2">
                              <a:lumMod val="70000"/>
                              <a:lumOff val="30000"/>
                            </a:schemeClr>
                          </a:solidFill>
                        </a:rPr>
                        <a:t>found</a:t>
                      </a:r>
                    </a:p>
                  </a:txBody>
                  <a:tcPr anchor="ctr" marL="164592" marR="164592" marT="45720" marB="45720"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chemeClr val="tx2"/>
                          </a:solidFill>
                        </a:rPr>
                        <a:t>52</a:t>
                      </a:r>
                    </a:p>
                    <a:p>
                      <a:pPr algn="ctr"/>
                      <a:r>
                        <a:rPr sz="1200" b="0">
                          <a:solidFill>
                            <a:schemeClr val="tx2">
                              <a:lumMod val="70000"/>
                              <a:lumOff val="30000"/>
                            </a:schemeClr>
                          </a:solidFill>
                        </a:rPr>
                        <a:t>missed</a:t>
                      </a:r>
                    </a:p>
                  </a:txBody>
                  <a:tcPr anchor="ctr" marL="164592" marR="164592" marT="45720" marB="45720">
                    <a:solidFill>
                      <a:schemeClr val="accent2">
                        <a:lumMod val="15000"/>
                        <a:lumOff val="85000"/>
                      </a:schemeClr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tx2"/>
                          </a:solidFill>
                        </a:rPr>
                        <a:t>Really another word</a:t>
                      </a:r>
                    </a:p>
                    <a:p>
                      <a:pPr algn="l"/>
                      <a:r>
                        <a:rPr sz="1200" b="0">
                          <a:solidFill>
                            <a:schemeClr val="tx2">
                              <a:lumMod val="70000"/>
                              <a:lumOff val="30000"/>
                            </a:schemeClr>
                          </a:solidFill>
                        </a:rPr>
                        <a:t>10,793 recordings</a:t>
                      </a:r>
                    </a:p>
                  </a:txBody>
                  <a:tcPr anchor="ctr" marL="164592" marR="164592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chemeClr val="tx2"/>
                          </a:solidFill>
                        </a:rPr>
                        <a:t>37</a:t>
                      </a:r>
                    </a:p>
                    <a:p>
                      <a:pPr algn="ctr"/>
                      <a:r>
                        <a:rPr sz="1200" b="0">
                          <a:solidFill>
                            <a:schemeClr val="tx2">
                              <a:lumMod val="70000"/>
                              <a:lumOff val="30000"/>
                            </a:schemeClr>
                          </a:solidFill>
                        </a:rPr>
                        <a:t>false alarms</a:t>
                      </a:r>
                    </a:p>
                  </a:txBody>
                  <a:tcPr anchor="ctr" marL="164592" marR="164592" marT="45720" marB="45720">
                    <a:solidFill>
                      <a:schemeClr val="accent2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chemeClr val="tx2"/>
                          </a:solidFill>
                        </a:rPr>
                        <a:t>10,756</a:t>
                      </a:r>
                    </a:p>
                    <a:p>
                      <a:pPr algn="ctr"/>
                      <a:r>
                        <a:rPr sz="1200" b="0">
                          <a:solidFill>
                            <a:schemeClr val="tx2">
                              <a:lumMod val="70000"/>
                              <a:lumOff val="30000"/>
                            </a:schemeClr>
                          </a:solidFill>
                        </a:rPr>
                        <a:t>correctly rejected</a:t>
                      </a:r>
                    </a:p>
                  </a:txBody>
                  <a:tcPr anchor="ctr" marL="164592" marR="164592" marT="45720" marB="45720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6052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70000"/>
                    <a:lumOff val="30000"/>
                  </a:schemeClr>
                </a:solidFill>
              </a:rPr>
              <a:t>Deployed model (95 neurons) on the 11,005 test recordings, from speakers never heard in training</a:t>
            </a:r>
          </a:p>
        </p:txBody>
      </p:sp>
      <p:sp>
        <p:nvSpPr>
          <p:cNvPr id="5" name="Recall"/>
          <p:cNvSpPr/>
          <p:nvPr/>
        </p:nvSpPr>
        <p:spPr>
          <a:xfrm>
            <a:off x="6629400" y="1463040"/>
            <a:ext cx="5010912" cy="82296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4630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chemeClr val="tx2"/>
                </a:solidFill>
              </a:rPr>
              <a:t>75.5%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463040"/>
            <a:ext cx="267919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Recall: "Sheila"s found</a:t>
            </a:r>
          </a:p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160 / 212</a:t>
            </a:r>
          </a:p>
        </p:txBody>
      </p:sp>
      <p:sp>
        <p:nvSpPr>
          <p:cNvPr id="8" name="Precision"/>
          <p:cNvSpPr/>
          <p:nvPr/>
        </p:nvSpPr>
        <p:spPr>
          <a:xfrm>
            <a:off x="6629400" y="2377440"/>
            <a:ext cx="5010912" cy="82296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3774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chemeClr val="tx2"/>
                </a:solidFill>
              </a:rPr>
              <a:t>81.2%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377440"/>
            <a:ext cx="267919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Precision: right detections</a:t>
            </a:r>
          </a:p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160 / (160 + 37)</a:t>
            </a:r>
          </a:p>
        </p:txBody>
      </p:sp>
      <p:sp>
        <p:nvSpPr>
          <p:cNvPr id="11" name="F1"/>
          <p:cNvSpPr/>
          <p:nvPr/>
        </p:nvSpPr>
        <p:spPr>
          <a:xfrm>
            <a:off x="6629400" y="3291840"/>
            <a:ext cx="5010912" cy="82296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2918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chemeClr val="tx2"/>
                </a:solidFill>
              </a:rPr>
              <a:t>78.2%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91840"/>
            <a:ext cx="267919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F1: combines both</a:t>
            </a:r>
          </a:p>
          <a:p>
            <a:pPr algn="l"/>
            <a:r>
              <a:rPr sz="14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2 × P × R / (P + R)</a:t>
            </a:r>
          </a:p>
        </p:txBody>
      </p:sp>
      <p:sp>
        <p:nvSpPr>
          <p:cNvPr id="14" name="Why not plain accuracy?"/>
          <p:cNvSpPr/>
          <p:nvPr/>
        </p:nvSpPr>
        <p:spPr>
          <a:xfrm>
            <a:off x="548640" y="4663440"/>
            <a:ext cx="5468112" cy="1463040"/>
          </a:xfrm>
          <a:prstGeom prst="roundRect">
            <a:avLst>
              <a:gd name="adj" fmla="val 1124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491947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Why not plain accuracy?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chemeClr val="tx1">
                    <a:lumMod val="80000"/>
                    <a:lumOff val="20000"/>
                  </a:schemeClr>
                </a:solidFill>
              </a:rPr>
              <a:t>98% of the clips are not "Sheila": always answering "no" already scores 98.1%. Ours scores 99.2%, which hides the 52 misses.</a:t>
            </a:r>
          </a:p>
        </p:txBody>
      </p:sp>
      <p:sp>
        <p:nvSpPr>
          <p:cNvPr id="16" name="Live detection (orange line)"/>
          <p:cNvSpPr/>
          <p:nvPr/>
        </p:nvSpPr>
        <p:spPr>
          <a:xfrm>
            <a:off x="6172200" y="4663440"/>
            <a:ext cx="5468112" cy="1463040"/>
          </a:xfrm>
          <a:prstGeom prst="roundRect">
            <a:avLst>
              <a:gd name="adj" fmla="val 1124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846320"/>
            <a:ext cx="491947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Live detection (orange line)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chemeClr val="tx1">
                    <a:lumMod val="80000"/>
                    <a:lumOff val="20000"/>
                  </a:schemeClr>
                </a:solidFill>
              </a:rPr>
              <a:t>Test clips in background noise, cut into 1 s windows every 250 ms; detected if "2 of 3" fires: 61% of "Sheila"s found, 0.3% of other words accepted.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chemeClr val="tx1">
                    <a:lumMod val="60000"/>
                    <a:lumOff val="40000"/>
                  </a:schemeClr>
                </a:solidFill>
              </a:rPr>
              <a:t>Thresholds are chosen on separate validation recordings, never on the test set. The charts show the mean of 3 training runs; this table is the deployed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2 network size">
  <a:themeElements>
    <a:clrScheme name="E2 network size">
      <a:dk1>
        <a:srgbClr val="1D2329"/>
      </a:dk1>
      <a:lt1>
        <a:srgbClr val="FFFFFF"/>
      </a:lt1>
      <a:dk2>
        <a:srgbClr val="2E3A46"/>
      </a:dk2>
      <a:lt2>
        <a:srgbClr val="F1F4F6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D03B3B"/>
      </a:accent5>
      <a:accent6>
        <a:srgbClr val="898781"/>
      </a:accent6>
      <a:hlink>
        <a:srgbClr val="2A78D6"/>
      </a:hlink>
      <a:folHlink>
        <a:srgbClr val="52514E"/>
      </a:folHlink>
    </a:clrScheme>
    <a:fontScheme name="E2 network siz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size: memory, time and quality</dc:title>
  <dc:subject>Research experiment E2 (5XPG0, Group 2)</dc:subject>
  <dc:creator>5XPG0 Group 2</dc:creator>
  <cp:keywords/>
  <dc:description>generated using python-pptx</dc:description>
  <cp:lastModifiedBy>5XPG0 Group 2</cp:lastModifiedBy>
  <cp:revision>1</cp:revision>
  <dcterms:created xsi:type="dcterms:W3CDTF">2013-01-27T09:14:16Z</dcterms:created>
  <dcterms:modified xsi:type="dcterms:W3CDTF">2013-01-27T09:15:58Z</dcterms:modified>
  <cp:category/>
</cp:coreProperties>
</file>