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etwork size (E2)" id="{7E949986-12ED-4FA1-A813-0C2A8E7262D8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Memory (of 144 KiB)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circle"/>
            <c:size val="9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0.08355034722222222</c:v>
                </c:pt>
                <c:pt idx="1">
                  <c:v>0.16710069444444445</c:v>
                </c:pt>
                <c:pt idx="2">
                  <c:v>0.3350694444444444</c:v>
                </c:pt>
                <c:pt idx="3">
                  <c:v>0.5026041666666666</c:v>
                </c:pt>
                <c:pt idx="4">
                  <c:v>0.6701388888888888</c:v>
                </c:pt>
                <c:pt idx="5">
                  <c:v>0.8376736111111112</c:v>
                </c:pt>
                <c:pt idx="6">
                  <c:v>0.9947374131944444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Processing time (of 250 ms)</c:v>
                </c:pt>
              </c:strCache>
            </c:strRef>
          </c:tx>
          <c:spPr>
            <a:ln w="31750">
              <a:solidFill>
                <a:schemeClr val="accent2"/>
              </a:solidFill>
            </a:ln>
          </c:spPr>
          <c:marker>
            <c:symbol val="circle"/>
            <c:size val="9"/>
            <c:spPr>
              <a:solidFill>
                <a:schemeClr val="accent2"/>
              </a:solidFill>
              <a:ln w="19050">
                <a:solidFill>
                  <a:srgbClr val="FFFFFF"/>
                </a:solidFill>
              </a:ln>
            </c:spPr>
          </c:marker>
          <c:dLbls>
            <c:dLbl>
              <c:idx val="6"/>
              <c:tx>
                <c:rich>
                  <a:bodyPr/>
                  <a:lstStyle/>
                  <a:p>
                    <a:r>
                      <a:rPr sz="1300" b="1">
                        <a:solidFill>
                          <a:schemeClr val="tx2"/>
                        </a:solidFill>
                      </a:rPr>
                      <a:t>35.5%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Sheet1!$A$11:$A$17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0.02946</c:v>
                </c:pt>
                <c:pt idx="1">
                  <c:v>0.05898441333332</c:v>
                </c:pt>
                <c:pt idx="2">
                  <c:v>0.11981892</c:v>
                </c:pt>
                <c:pt idx="3">
                  <c:v>0.17954164</c:v>
                </c:pt>
                <c:pt idx="4">
                  <c:v>0.23919950666668002</c:v>
                </c:pt>
                <c:pt idx="5">
                  <c:v>0.29898553333332</c:v>
                </c:pt>
                <c:pt idx="6">
                  <c:v>0.35505193333332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Limit</c:v>
                </c:pt>
              </c:strCache>
            </c:strRef>
          </c:tx>
          <c:spPr>
            <a:ln w="22225">
              <a:solidFill>
                <a:schemeClr val="accent5"/>
              </a:solidFill>
              <a:prstDash val="dash"/>
            </a:ln>
          </c:spPr>
          <c:marker>
            <c:symbol val="none"/>
          </c:marker>
          <c:xVal>
            <c:numRef>
              <c:f>Sheet1!$A$20:$A$21</c:f>
              <c:numCache>
                <c:formatCode>General</c:formatCode>
                <c:ptCount val="2"/>
                <c:pt idx="0">
                  <c:v>0</c:v>
                </c:pt>
                <c:pt idx="1">
                  <c:v>104</c:v>
                </c:pt>
              </c:numCache>
            </c:numRef>
          </c:xVal>
          <c:yVal>
            <c:numRef>
              <c:f>Sheet1!$B$20:$B$21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04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hidden neurons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6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share of the platform limit</a:t>
                </a:r>
              </a:p>
            </c:rich>
          </c:tx>
          <c:layout/>
          <c:overlay val="0"/>
        </c:title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0.2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chemeClr val="tx1">
              <a:lumMod val="70000"/>
              <a:lumOff val="30000"/>
            </a:schemeClr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score, test clips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circle"/>
            <c:size val="9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chemeClr val="tx2"/>
                        </a:solidFill>
                      </a:rPr>
                      <a:t>69%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300" b="1">
                        <a:solidFill>
                          <a:schemeClr val="tx2"/>
                        </a:solidFill>
                      </a:rPr>
                      <a:t>78%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7"/>
                <c:pt idx="0">
                  <c:v>0.074493</c:v>
                </c:pt>
                <c:pt idx="1">
                  <c:v>0.036060</c:v>
                </c:pt>
                <c:pt idx="2">
                  <c:v>0.035892</c:v>
                </c:pt>
                <c:pt idx="3">
                  <c:v>0.005828</c:v>
                </c:pt>
                <c:pt idx="4">
                  <c:v>0.014821</c:v>
                </c:pt>
                <c:pt idx="5">
                  <c:v>0.017883</c:v>
                </c:pt>
                <c:pt idx="6">
                  <c:v>0.003365</c:v>
                </c:pt>
              </c:numLit>
            </c:plus>
            <c:minus>
              <c:numLit>
                <c:formatCode>General</c:formatCode>
                <c:ptCount val="7"/>
                <c:pt idx="0">
                  <c:v>0.074493</c:v>
                </c:pt>
                <c:pt idx="1">
                  <c:v>0.036060</c:v>
                </c:pt>
                <c:pt idx="2">
                  <c:v>0.035892</c:v>
                </c:pt>
                <c:pt idx="3">
                  <c:v>0.005828</c:v>
                </c:pt>
                <c:pt idx="4">
                  <c:v>0.014821</c:v>
                </c:pt>
                <c:pt idx="5">
                  <c:v>0.017883</c:v>
                </c:pt>
                <c:pt idx="6">
                  <c:v>0.003365</c:v>
                </c:pt>
              </c:numLit>
            </c:minus>
            <c:spPr>
              <a:ln w="19050">
                <a:solidFill>
                  <a:schemeClr val="accent1"/>
                </a:solidFill>
              </a:ln>
            </c:spPr>
          </c:errBars>
          <c:xVal>
            <c:numRef>
              <c:f>Sheet1!$A$2:$A$8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0.690467</c:v>
                </c:pt>
                <c:pt idx="1">
                  <c:v>0.764467</c:v>
                </c:pt>
                <c:pt idx="2">
                  <c:v>0.759833</c:v>
                </c:pt>
                <c:pt idx="3">
                  <c:v>0.7898</c:v>
                </c:pt>
                <c:pt idx="4">
                  <c:v>0.763933</c:v>
                </c:pt>
                <c:pt idx="5">
                  <c:v>0.774533</c:v>
                </c:pt>
                <c:pt idx="6">
                  <c:v>0.781033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"Sheila" detected, live stream (2 of 3)</c:v>
                </c:pt>
              </c:strCache>
            </c:strRef>
          </c:tx>
          <c:spPr>
            <a:ln w="31750">
              <a:solidFill>
                <a:schemeClr val="accent2"/>
              </a:solidFill>
            </a:ln>
          </c:spPr>
          <c:marker>
            <c:symbol val="square"/>
            <c:size val="9"/>
            <c:spPr>
              <a:solidFill>
                <a:schemeClr val="accent2"/>
              </a:solidFill>
              <a:ln w="19050"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chemeClr val="tx2"/>
                        </a:solidFill>
                      </a:rPr>
                      <a:t>51%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300" b="1">
                        <a:solidFill>
                          <a:schemeClr val="tx2"/>
                        </a:solidFill>
                      </a:rPr>
                      <a:t>61%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7"/>
                <c:pt idx="0">
                  <c:v>0.066105</c:v>
                </c:pt>
                <c:pt idx="1">
                  <c:v>0.032088</c:v>
                </c:pt>
                <c:pt idx="2">
                  <c:v>0.085615</c:v>
                </c:pt>
                <c:pt idx="3">
                  <c:v>0.012435</c:v>
                </c:pt>
                <c:pt idx="4">
                  <c:v>0.025985</c:v>
                </c:pt>
                <c:pt idx="5">
                  <c:v>0.021636</c:v>
                </c:pt>
                <c:pt idx="6">
                  <c:v>0.028430</c:v>
                </c:pt>
              </c:numLit>
            </c:plus>
            <c:minus>
              <c:numLit>
                <c:formatCode>General</c:formatCode>
                <c:ptCount val="7"/>
                <c:pt idx="0">
                  <c:v>0.066105</c:v>
                </c:pt>
                <c:pt idx="1">
                  <c:v>0.032088</c:v>
                </c:pt>
                <c:pt idx="2">
                  <c:v>0.085615</c:v>
                </c:pt>
                <c:pt idx="3">
                  <c:v>0.012435</c:v>
                </c:pt>
                <c:pt idx="4">
                  <c:v>0.025985</c:v>
                </c:pt>
                <c:pt idx="5">
                  <c:v>0.021636</c:v>
                </c:pt>
                <c:pt idx="6">
                  <c:v>0.028430</c:v>
                </c:pt>
              </c:numLit>
            </c:minus>
            <c:spPr>
              <a:ln w="19050">
                <a:solidFill>
                  <a:schemeClr val="accent2"/>
                </a:solidFill>
              </a:ln>
            </c:spPr>
          </c:errBars>
          <c:xVal>
            <c:numRef>
              <c:f>Sheet1!$A$11:$A$17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0.511</c:v>
                </c:pt>
                <c:pt idx="1">
                  <c:v>0.611633</c:v>
                </c:pt>
                <c:pt idx="2">
                  <c:v>0.5975</c:v>
                </c:pt>
                <c:pt idx="3">
                  <c:v>0.6368</c:v>
                </c:pt>
                <c:pt idx="4">
                  <c:v>0.544067</c:v>
                </c:pt>
                <c:pt idx="5">
                  <c:v>0.6085</c:v>
                </c:pt>
                <c:pt idx="6">
                  <c:v>0.605367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04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hidden neurons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6.0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score</a:t>
                </a:r>
              </a:p>
            </c:rich>
          </c:tx>
          <c:layout/>
          <c:overlay val="0"/>
        </c:title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0.2"/>
      </c:valAx>
      <c:spPr>
        <a:noFill/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chemeClr val="tx1">
              <a:lumMod val="70000"/>
              <a:lumOff val="30000"/>
            </a:schemeClr>
          </a:solidFill>
          <a:latin typeface="+mn-l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"shee" + another word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circle"/>
            <c:size val="9"/>
            <c:spPr>
              <a:solidFill>
                <a:schemeClr val="accent1"/>
              </a:solidFill>
              <a:ln w="19050">
                <a:solidFill>
                  <a:srgbClr val="FFFFFF"/>
                </a:solidFill>
              </a:ln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0.391467</c:v>
                </c:pt>
                <c:pt idx="1">
                  <c:v>0.3721</c:v>
                </c:pt>
                <c:pt idx="2">
                  <c:v>0.3566</c:v>
                </c:pt>
                <c:pt idx="3">
                  <c:v>0.405067</c:v>
                </c:pt>
                <c:pt idx="4">
                  <c:v>0.329433</c:v>
                </c:pt>
                <c:pt idx="5">
                  <c:v>0.354667</c:v>
                </c:pt>
                <c:pt idx="6">
                  <c:v>0.344933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she-, sheet, shield, Sheena (computer voices)</c:v>
                </c:pt>
              </c:strCache>
            </c:strRef>
          </c:tx>
          <c:spPr>
            <a:ln w="31750">
              <a:solidFill>
                <a:schemeClr val="accent2"/>
              </a:solidFill>
            </a:ln>
          </c:spPr>
          <c:marker>
            <c:symbol val="square"/>
            <c:size val="9"/>
            <c:spPr>
              <a:solidFill>
                <a:schemeClr val="accent2"/>
              </a:solidFill>
              <a:ln w="19050">
                <a:solidFill>
                  <a:srgbClr val="FFFFFF"/>
                </a:solidFill>
              </a:ln>
            </c:spPr>
          </c:marker>
          <c:xVal>
            <c:numRef>
              <c:f>Sheet1!$A$11:$A$17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0.310433</c:v>
                </c:pt>
                <c:pt idx="1">
                  <c:v>0.3382</c:v>
                </c:pt>
                <c:pt idx="2">
                  <c:v>0.3028</c:v>
                </c:pt>
                <c:pt idx="3">
                  <c:v>0.3132</c:v>
                </c:pt>
                <c:pt idx="4">
                  <c:v>0.3153</c:v>
                </c:pt>
                <c:pt idx="5">
                  <c:v>0.289567</c:v>
                </c:pt>
                <c:pt idx="6">
                  <c:v>0.319467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another start + "eila"</c:v>
                </c:pt>
              </c:strCache>
            </c:strRef>
          </c:tx>
          <c:spPr>
            <a:ln w="31750">
              <a:solidFill>
                <a:schemeClr val="accent3"/>
              </a:solidFill>
            </a:ln>
          </c:spPr>
          <c:marker>
            <c:symbol val="triangle"/>
            <c:size val="9"/>
            <c:spPr>
              <a:solidFill>
                <a:schemeClr val="accent3"/>
              </a:solidFill>
              <a:ln w="19050">
                <a:solidFill>
                  <a:srgbClr val="FFFFFF"/>
                </a:solidFill>
              </a:ln>
            </c:spPr>
          </c:marker>
          <c:xVal>
            <c:numRef>
              <c:f>Sheet1!$A$20:$A$26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Sheet1!$B$20:$B$26</c:f>
              <c:numCache>
                <c:formatCode>General</c:formatCode>
                <c:ptCount val="7"/>
                <c:pt idx="0">
                  <c:v>0.2922</c:v>
                </c:pt>
                <c:pt idx="1">
                  <c:v>0.339467</c:v>
                </c:pt>
                <c:pt idx="2">
                  <c:v>0.3045</c:v>
                </c:pt>
                <c:pt idx="3">
                  <c:v>0.349833</c:v>
                </c:pt>
                <c:pt idx="4">
                  <c:v>0.273667</c:v>
                </c:pt>
                <c:pt idx="5">
                  <c:v>0.337433</c:v>
                </c:pt>
                <c:pt idx="6">
                  <c:v>0.312767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Sheet1!$B$28</c:f>
              <c:strCache>
                <c:ptCount val="1"/>
                <c:pt idx="0">
                  <c:v>"sh" alone</c:v>
                </c:pt>
              </c:strCache>
            </c:strRef>
          </c:tx>
          <c:spPr>
            <a:ln w="31750">
              <a:solidFill>
                <a:schemeClr val="accent6"/>
              </a:solidFill>
            </a:ln>
          </c:spPr>
          <c:marker>
            <c:symbol val="diamond"/>
            <c:size val="9"/>
            <c:spPr>
              <a:solidFill>
                <a:schemeClr val="accent6"/>
              </a:solidFill>
              <a:ln w="19050">
                <a:solidFill>
                  <a:srgbClr val="FFFFFF"/>
                </a:solidFill>
              </a:ln>
            </c:spPr>
          </c:marker>
          <c:xVal>
            <c:numRef>
              <c:f>Sheet1!$A$29:$A$35</c:f>
              <c:numCache>
                <c:formatCode>General</c:formatCode>
                <c:ptCount val="7"/>
                <c:pt idx="0">
                  <c:v>8</c:v>
                </c:pt>
                <c:pt idx="1">
                  <c:v>16</c:v>
                </c:pt>
                <c:pt idx="2">
                  <c:v>32</c:v>
                </c:pt>
                <c:pt idx="3">
                  <c:v>48</c:v>
                </c:pt>
                <c:pt idx="4">
                  <c:v>64</c:v>
                </c:pt>
                <c:pt idx="5">
                  <c:v>80</c:v>
                </c:pt>
                <c:pt idx="6">
                  <c:v>95</c:v>
                </c:pt>
              </c:numCache>
            </c:numRef>
          </c:xVal>
          <c:yVal>
            <c:numRef>
              <c:f>Sheet1!$B$29:$B$35</c:f>
              <c:numCache>
                <c:formatCode>General</c:formatCode>
                <c:ptCount val="7"/>
                <c:pt idx="0">
                  <c:v>0.007733</c:v>
                </c:pt>
                <c:pt idx="1">
                  <c:v>0.013567</c:v>
                </c:pt>
                <c:pt idx="2">
                  <c:v>0.0116</c:v>
                </c:pt>
                <c:pt idx="3">
                  <c:v>0.017467</c:v>
                </c:pt>
                <c:pt idx="4">
                  <c:v>0.009667</c:v>
                </c:pt>
                <c:pt idx="5">
                  <c:v>0.009667</c:v>
                </c:pt>
                <c:pt idx="6">
                  <c:v>0.009667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04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hidden neurons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6.0"/>
      </c:valAx>
      <c:valAx>
        <c:axId val="-2129643912"/>
        <c:scaling>
          <c:orientation val="minMax"/>
          <c:max val="0.6"/>
          <c:min val="0.0"/>
        </c:scaling>
        <c:delete val="0"/>
        <c:axPos val="l"/>
        <c:majorGridlines>
          <c:spPr>
            <a:ln w="9525">
              <a:solidFill>
                <a:srgbClr val="E1E0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chemeClr val="tx1">
                        <a:lumMod val="70000"/>
                        <a:lumOff val="30000"/>
                      </a:schemeClr>
                    </a:solidFill>
                  </a:rPr>
                  <a:t>share accepted as "Sheila"</a:t>
                </a:r>
              </a:p>
            </c:rich>
          </c:tx>
          <c:layout/>
          <c:overlay val="0"/>
        </c:title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0.1"/>
      </c:valAx>
      <c:spPr>
        <a:noFill/>
        <a:ln>
          <a:noFill/>
        </a:ln>
      </c:spPr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chemeClr val="tx1">
              <a:lumMod val="70000"/>
              <a:lumOff val="30000"/>
            </a:schemeClr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changed one thing only: the number of hidden neurons, from 8 up to 95, the most that fits. Each size was trained three times; everything else stayed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neuron costs one and a half kilobytes and almost a millisecond. At 95 neurons the memory is full, but processing uses only a third of the time per window: memory is the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jumps from 8 to 16 neurons and then stays flat. Above 16, the differences between sizes are smaller than the spread between training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bigger network also does not reject near misses: about a third of words like Sheena or shield still pass, at every size. That needs a network that follows the order of sounds.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48 neurons give the same quality as 95 with half the memory and half the processing time: the efficient size for this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8640" y="365760"/>
            <a:ext cx="11091672" cy="82296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b="1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size = number of hidden neurons</a:t>
            </a:r>
          </a:p>
        </p:txBody>
      </p:sp>
      <p:pic>
        <p:nvPicPr>
          <p:cNvPr id="3" name="Input pictur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2377440" cy="1783080"/>
          </a:xfrm>
          <a:prstGeom prst="rect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4160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768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262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1 s sound picture,</a:t>
            </a:r>
          </a:p>
          <a:p>
            <a:pPr algn="l"/>
            <a:r>
              <a:rPr sz="12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24 pitches × 32 time steps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71800" y="1600200"/>
            <a:ext cx="996696" cy="8229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971800" y="1600200"/>
            <a:ext cx="996696" cy="12801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971800" y="1600200"/>
            <a:ext cx="996696" cy="17373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971800" y="1600200"/>
            <a:ext cx="996696" cy="21945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352544" y="1600200"/>
            <a:ext cx="1225296" cy="11887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52544" y="1600200"/>
            <a:ext cx="1225296" cy="24688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971800" y="2148840"/>
            <a:ext cx="996696" cy="2743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971800" y="2148840"/>
            <a:ext cx="996696" cy="7315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971800" y="2148840"/>
            <a:ext cx="996696" cy="11887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971800" y="2148840"/>
            <a:ext cx="996696" cy="16459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352544" y="2148840"/>
            <a:ext cx="1225296" cy="6400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52544" y="2148840"/>
            <a:ext cx="1225296" cy="19202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71800" y="2423160"/>
            <a:ext cx="996696" cy="2743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971800" y="2697480"/>
            <a:ext cx="996696" cy="1828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971800" y="2697480"/>
            <a:ext cx="996696" cy="6400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971800" y="2697480"/>
            <a:ext cx="996696" cy="10972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2697480"/>
            <a:ext cx="1225296" cy="914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52544" y="2697480"/>
            <a:ext cx="1225296" cy="137160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71800" y="2423160"/>
            <a:ext cx="996696" cy="8229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971800" y="2880360"/>
            <a:ext cx="996696" cy="3657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971800" y="3246120"/>
            <a:ext cx="996696" cy="914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971800" y="3246120"/>
            <a:ext cx="996696" cy="5486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352544" y="2788920"/>
            <a:ext cx="1225296" cy="45720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352544" y="3246120"/>
            <a:ext cx="1225296" cy="82296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971800" y="2423160"/>
            <a:ext cx="996696" cy="137160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71800" y="2880360"/>
            <a:ext cx="996696" cy="91440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971800" y="3337560"/>
            <a:ext cx="996696" cy="45720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971800" y="3794760"/>
            <a:ext cx="996696" cy="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352544" y="2788920"/>
            <a:ext cx="1225296" cy="10058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352544" y="3794760"/>
            <a:ext cx="1225296" cy="2743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71800" y="2423160"/>
            <a:ext cx="996696" cy="19202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71800" y="2880360"/>
            <a:ext cx="996696" cy="14630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71800" y="3337560"/>
            <a:ext cx="996696" cy="10058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71800" y="3794760"/>
            <a:ext cx="996696" cy="5486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352544" y="2788920"/>
            <a:ext cx="1225296" cy="15544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352544" y="4069080"/>
            <a:ext cx="1225296" cy="2743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971800" y="2423160"/>
            <a:ext cx="996696" cy="28346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971800" y="2880360"/>
            <a:ext cx="996696" cy="23774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971800" y="3337560"/>
            <a:ext cx="996696" cy="19202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71800" y="3794760"/>
            <a:ext cx="996696" cy="146304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352544" y="2788920"/>
            <a:ext cx="1225296" cy="246888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52544" y="4069080"/>
            <a:ext cx="1225296" cy="1188720"/>
          </a:xfrm>
          <a:prstGeom prst="line">
            <a:avLst/>
          </a:prstGeom>
          <a:ln w="9525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idden neuron"/>
          <p:cNvSpPr/>
          <p:nvPr/>
        </p:nvSpPr>
        <p:spPr>
          <a:xfrm>
            <a:off x="3968496" y="140817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Hidden neuron"/>
          <p:cNvSpPr/>
          <p:nvPr/>
        </p:nvSpPr>
        <p:spPr>
          <a:xfrm>
            <a:off x="3968496" y="195681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idden neuron"/>
          <p:cNvSpPr/>
          <p:nvPr/>
        </p:nvSpPr>
        <p:spPr>
          <a:xfrm>
            <a:off x="3968496" y="250545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idden neuron"/>
          <p:cNvSpPr/>
          <p:nvPr/>
        </p:nvSpPr>
        <p:spPr>
          <a:xfrm>
            <a:off x="3968496" y="305409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idden neuron"/>
          <p:cNvSpPr/>
          <p:nvPr/>
        </p:nvSpPr>
        <p:spPr>
          <a:xfrm>
            <a:off x="3968496" y="360273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idden neuron"/>
          <p:cNvSpPr/>
          <p:nvPr/>
        </p:nvSpPr>
        <p:spPr>
          <a:xfrm>
            <a:off x="3968496" y="415137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Hidden neuron"/>
          <p:cNvSpPr/>
          <p:nvPr/>
        </p:nvSpPr>
        <p:spPr>
          <a:xfrm>
            <a:off x="3968496" y="5065776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28515" y="4649724"/>
            <a:ext cx="64008" cy="64008"/>
          </a:xfrm>
          <a:prstGeom prst="ellipse">
            <a:avLst/>
          </a:prstGeom>
          <a:solidFill>
            <a:schemeClr val="tx2">
              <a:lumMod val="70000"/>
              <a:lumOff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28515" y="4768596"/>
            <a:ext cx="64008" cy="64008"/>
          </a:xfrm>
          <a:prstGeom prst="ellipse">
            <a:avLst/>
          </a:prstGeom>
          <a:solidFill>
            <a:schemeClr val="tx2">
              <a:lumMod val="70000"/>
              <a:lumOff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28515" y="4887468"/>
            <a:ext cx="64008" cy="64008"/>
          </a:xfrm>
          <a:prstGeom prst="ellipse">
            <a:avLst/>
          </a:prstGeom>
          <a:solidFill>
            <a:schemeClr val="tx2">
              <a:lumMod val="70000"/>
              <a:lumOff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63239" y="5623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chemeClr val="tx2"/>
                </a:solidFill>
              </a:rPr>
              <a:t>H hidden neurons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63239" y="597103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= the network size</a:t>
            </a:r>
          </a:p>
        </p:txBody>
      </p:sp>
      <p:sp>
        <p:nvSpPr>
          <p:cNvPr id="60" name="Output"/>
          <p:cNvSpPr/>
          <p:nvPr/>
        </p:nvSpPr>
        <p:spPr>
          <a:xfrm>
            <a:off x="5577840" y="2560320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53912" y="2606039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2"/>
                </a:solidFill>
              </a:rPr>
              <a:t>Sheila</a:t>
            </a:r>
          </a:p>
        </p:txBody>
      </p:sp>
      <p:sp>
        <p:nvSpPr>
          <p:cNvPr id="62" name="Output"/>
          <p:cNvSpPr/>
          <p:nvPr/>
        </p:nvSpPr>
        <p:spPr>
          <a:xfrm>
            <a:off x="5577840" y="3840480"/>
            <a:ext cx="457200" cy="4572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53912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2"/>
                </a:solidFill>
              </a:rPr>
              <a:t>not Sheila</a:t>
            </a:r>
          </a:p>
        </p:txBody>
      </p:sp>
      <p:sp>
        <p:nvSpPr>
          <p:cNvPr id="64" name="Sizes tested"/>
          <p:cNvSpPr/>
          <p:nvPr/>
        </p:nvSpPr>
        <p:spPr>
          <a:xfrm>
            <a:off x="7726679" y="1463040"/>
            <a:ext cx="3913632" cy="4663440"/>
          </a:xfrm>
          <a:prstGeom prst="roundRect">
            <a:avLst>
              <a:gd name="adj" fmla="val 4205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46719" y="1737360"/>
            <a:ext cx="3273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Sizes tested</a:t>
            </a:r>
          </a:p>
        </p:txBody>
      </p:sp>
      <p:sp>
        <p:nvSpPr>
          <p:cNvPr id="66" name="Size 8"/>
          <p:cNvSpPr/>
          <p:nvPr/>
        </p:nvSpPr>
        <p:spPr>
          <a:xfrm>
            <a:off x="8046719" y="2240280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67" name="Size 16"/>
          <p:cNvSpPr/>
          <p:nvPr/>
        </p:nvSpPr>
        <p:spPr>
          <a:xfrm>
            <a:off x="8897111" y="2240280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16</a:t>
            </a:r>
          </a:p>
        </p:txBody>
      </p:sp>
      <p:sp>
        <p:nvSpPr>
          <p:cNvPr id="68" name="Size 32"/>
          <p:cNvSpPr/>
          <p:nvPr/>
        </p:nvSpPr>
        <p:spPr>
          <a:xfrm>
            <a:off x="9747503" y="2240280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32</a:t>
            </a:r>
          </a:p>
        </p:txBody>
      </p:sp>
      <p:sp>
        <p:nvSpPr>
          <p:cNvPr id="69" name="Size 48"/>
          <p:cNvSpPr/>
          <p:nvPr/>
        </p:nvSpPr>
        <p:spPr>
          <a:xfrm>
            <a:off x="10597896" y="2240280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48</a:t>
            </a:r>
          </a:p>
        </p:txBody>
      </p:sp>
      <p:sp>
        <p:nvSpPr>
          <p:cNvPr id="70" name="Size 64"/>
          <p:cNvSpPr/>
          <p:nvPr/>
        </p:nvSpPr>
        <p:spPr>
          <a:xfrm>
            <a:off x="8046719" y="2807208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64</a:t>
            </a:r>
          </a:p>
        </p:txBody>
      </p:sp>
      <p:sp>
        <p:nvSpPr>
          <p:cNvPr id="71" name="Size 80"/>
          <p:cNvSpPr/>
          <p:nvPr/>
        </p:nvSpPr>
        <p:spPr>
          <a:xfrm>
            <a:off x="8897111" y="2807208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tx2"/>
                </a:solidFill>
              </a:rPr>
              <a:t>80</a:t>
            </a:r>
          </a:p>
        </p:txBody>
      </p:sp>
      <p:sp>
        <p:nvSpPr>
          <p:cNvPr id="72" name="Size 95"/>
          <p:cNvSpPr/>
          <p:nvPr/>
        </p:nvSpPr>
        <p:spPr>
          <a:xfrm>
            <a:off x="9747503" y="2807208"/>
            <a:ext cx="73152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chemeClr val="bg1"/>
                </a:solidFill>
              </a:rPr>
              <a:t>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19" y="3337560"/>
            <a:ext cx="3273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95 = the most that fits in memory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46719" y="3886200"/>
            <a:ext cx="3273552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3 training runs per size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results are the mean ± the spread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chemeClr val="tx2"/>
                </a:solidFill>
              </a:rPr>
              <a:t>Everything else identical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same data, training and threshold rules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chemeClr val="tx2"/>
                </a:solidFill>
              </a:rPr>
              <a:t>All 21 models run on the board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chemeClr val="tx1">
                    <a:lumMod val="70000"/>
                    <a:lumOff val="30000"/>
                  </a:schemeClr>
                </a:solidFill>
              </a:rPr>
              <a:t>results identical to the Python reference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runs out at 95 neurons, time does not</a:t>
            </a:r>
          </a:p>
        </p:txBody>
      </p:sp>
      <p:graphicFrame>
        <p:nvGraphicFramePr>
          <p:cNvPr id="3" name="Chart"/>
          <p:cNvGraphicFramePr>
            <a:graphicFrameLocks noGrp="1"/>
          </p:cNvGraphicFramePr>
          <p:nvPr/>
        </p:nvGraphicFramePr>
        <p:xfrm>
          <a:off x="548640" y="1325880"/>
          <a:ext cx="740664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Memory per neuron"/>
          <p:cNvSpPr/>
          <p:nvPr/>
        </p:nvSpPr>
        <p:spPr>
          <a:xfrm>
            <a:off x="8275320" y="1463040"/>
            <a:ext cx="3364992" cy="13716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49640" y="1883664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42248" y="1691640"/>
            <a:ext cx="25237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chemeClr val="tx2"/>
                </a:solidFill>
              </a:rPr>
              <a:t>1.5 KiB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2313432"/>
            <a:ext cx="2816352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memory per neuron</a:t>
            </a:r>
          </a:p>
        </p:txBody>
      </p:sp>
      <p:sp>
        <p:nvSpPr>
          <p:cNvPr id="8" name="Time per neuron"/>
          <p:cNvSpPr/>
          <p:nvPr/>
        </p:nvSpPr>
        <p:spPr>
          <a:xfrm>
            <a:off x="8275320" y="3108960"/>
            <a:ext cx="3364992" cy="13716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49640" y="3529584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42248" y="3337560"/>
            <a:ext cx="25237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chemeClr val="tx2"/>
                </a:solidFill>
              </a:rPr>
              <a:t>0.93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959352"/>
            <a:ext cx="2816352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processing time per neuron</a:t>
            </a:r>
          </a:p>
        </p:txBody>
      </p:sp>
      <p:sp>
        <p:nvSpPr>
          <p:cNvPr id="12" name="Largest size"/>
          <p:cNvSpPr/>
          <p:nvPr/>
        </p:nvSpPr>
        <p:spPr>
          <a:xfrm>
            <a:off x="8275320" y="4754880"/>
            <a:ext cx="3364992" cy="13716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49640" y="5175504"/>
            <a:ext cx="164592" cy="164592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4983480"/>
            <a:ext cx="2523743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</a:rPr>
              <a:t>95 neurons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605272"/>
            <a:ext cx="2816352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memory full, time 35.5% used</a:t>
            </a:r>
          </a:p>
        </p:txBody>
      </p:sp>
      <p:sp>
        <p:nvSpPr>
          <p:cNvPr id="16" name="Footnote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chemeClr val="tx1">
                    <a:lumMod val="60000"/>
                    <a:lumOff val="40000"/>
                  </a:schemeClr>
                </a:solidFill>
              </a:rPr>
              <a:t>Processing time: worst case on the board's RISC-V core (plain RV32IM firmware). Memory: the weights in the 144 KiB model area.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stops improving after 16 neurons</a:t>
            </a:r>
          </a:p>
        </p:txBody>
      </p:sp>
      <p:graphicFrame>
        <p:nvGraphicFramePr>
          <p:cNvPr id="3" name="Chart"/>
          <p:cNvGraphicFramePr>
            <a:graphicFrameLocks noGrp="1"/>
          </p:cNvGraphicFramePr>
          <p:nvPr/>
        </p:nvGraphicFramePr>
        <p:xfrm>
          <a:off x="548640" y="1325880"/>
          <a:ext cx="11091672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Steep part"/>
          <p:cNvSpPr/>
          <p:nvPr/>
        </p:nvSpPr>
        <p:spPr>
          <a:xfrm>
            <a:off x="548640" y="5074920"/>
            <a:ext cx="5394960" cy="105156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5074920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chemeClr val="tx2"/>
                </a:solidFill>
              </a:rPr>
              <a:t>69% → 76%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5074920"/>
            <a:ext cx="21945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F1 score from 8 to 16 neurons</a:t>
            </a:r>
          </a:p>
        </p:txBody>
      </p:sp>
      <p:sp>
        <p:nvSpPr>
          <p:cNvPr id="7" name="Plateau"/>
          <p:cNvSpPr/>
          <p:nvPr/>
        </p:nvSpPr>
        <p:spPr>
          <a:xfrm>
            <a:off x="6245352" y="5074920"/>
            <a:ext cx="5394960" cy="105156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5074920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chemeClr val="tx2"/>
                </a:solidFill>
              </a:rPr>
              <a:t>flat after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5074920"/>
            <a:ext cx="21945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differences smaller than the spread of 3 training runs</a:t>
            </a:r>
          </a:p>
        </p:txBody>
      </p:sp>
      <p:sp>
        <p:nvSpPr>
          <p:cNvPr id="10" name="Footnote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chemeClr val="tx1">
                    <a:lumMod val="60000"/>
                    <a:lumOff val="40000"/>
                  </a:schemeClr>
                </a:solidFill>
              </a:rPr>
              <a:t>Mean of 3 training runs per size; bars show ± 1 standard deviation. Live stream: 1 s windows every 250 ms; a detection needs 2 of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neurons do not fix near misses</a:t>
            </a:r>
          </a:p>
        </p:txBody>
      </p:sp>
      <p:sp>
        <p:nvSpPr>
          <p:cNvPr id="3" name="Near-miss callout"/>
          <p:cNvSpPr/>
          <p:nvPr/>
        </p:nvSpPr>
        <p:spPr>
          <a:xfrm>
            <a:off x="548640" y="1463040"/>
            <a:ext cx="3566160" cy="470916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chemeClr val="tx2"/>
                </a:solidFill>
              </a:rPr>
              <a:t>≈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of near misses still pass,</a:t>
            </a:r>
          </a:p>
          <a:p>
            <a:pPr algn="l"/>
            <a:r>
              <a:rPr sz="1600" b="1" i="0">
                <a:solidFill>
                  <a:schemeClr val="tx2"/>
                </a:solidFill>
              </a:rPr>
              <a:t>at every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Near misses sound like "Sheila": Sheena, shield, "shee" + another word.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One dense layer sees the whole second at once, not the order of the sounds.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2926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</a:rPr>
              <a:t>→ needs a network that follows the order of sounds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4434840" y="1325880"/>
          <a:ext cx="72054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Footnote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chemeClr val="tx1">
                    <a:lumMod val="60000"/>
                    <a:lumOff val="40000"/>
                  </a:schemeClr>
                </a:solidFill>
              </a:rPr>
              <a:t>Accepted at the live threshold: per 1 s window (edited real recordings) or per word with "2 of 3" (computer voices). Mean of 3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48 neurons match 95 with half the memory</a:t>
            </a:r>
          </a:p>
        </p:txBody>
      </p:sp>
      <p:sp>
        <p:nvSpPr>
          <p:cNvPr id="3" name="48 neurons"/>
          <p:cNvSpPr/>
          <p:nvPr/>
        </p:nvSpPr>
        <p:spPr>
          <a:xfrm>
            <a:off x="548640" y="1463040"/>
            <a:ext cx="5349240" cy="4526280"/>
          </a:xfrm>
          <a:prstGeom prst="roundRect">
            <a:avLst>
              <a:gd name="adj" fmla="val 3636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</a:rPr>
              <a:t>48 neurons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efficient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88036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72 KiB (50.3%)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Processing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61188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45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F1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43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Live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07492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64%</a:t>
            </a:r>
          </a:p>
        </p:txBody>
      </p:sp>
      <p:sp>
        <p:nvSpPr>
          <p:cNvPr id="14" name="95 neurons"/>
          <p:cNvSpPr/>
          <p:nvPr/>
        </p:nvSpPr>
        <p:spPr>
          <a:xfrm>
            <a:off x="6291072" y="1463040"/>
            <a:ext cx="5349240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916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chemeClr val="tx2"/>
                </a:solidFill>
              </a:rPr>
              <a:t>95 neurons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2402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deployed 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880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288036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143 KiB (99.5%)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36118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Processing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361188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89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43434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F1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4343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78%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5074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>
                    <a:lumMod val="75000"/>
                    <a:lumOff val="25000"/>
                  </a:schemeClr>
                </a:solidFill>
              </a:rPr>
              <a:t>Live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507492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800" b="1" i="0">
                <a:solidFill>
                  <a:schemeClr val="tx2"/>
                </a:solidFill>
              </a:rPr>
              <a:t>61%</a:t>
            </a:r>
          </a:p>
        </p:txBody>
      </p:sp>
      <p:sp>
        <p:nvSpPr>
          <p:cNvPr id="25" name="Footnote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chemeClr val="tx1">
                    <a:lumMod val="60000"/>
                    <a:lumOff val="40000"/>
                  </a:schemeClr>
                </a:solidFill>
              </a:rPr>
              <a:t>48 has the best mean validation F1 (chosen before looking at test results); its quality differences to 95 are within the spread of 3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2 network size">
  <a:themeElements>
    <a:clrScheme name="E2 network size">
      <a:dk1>
        <a:srgbClr val="1D2329"/>
      </a:dk1>
      <a:lt1>
        <a:srgbClr val="FFFFFF"/>
      </a:lt1>
      <a:dk2>
        <a:srgbClr val="2E3A46"/>
      </a:dk2>
      <a:lt2>
        <a:srgbClr val="F1F4F6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D03B3B"/>
      </a:accent5>
      <a:accent6>
        <a:srgbClr val="898781"/>
      </a:accent6>
      <a:hlink>
        <a:srgbClr val="2A78D6"/>
      </a:hlink>
      <a:folHlink>
        <a:srgbClr val="52514E"/>
      </a:folHlink>
    </a:clrScheme>
    <a:fontScheme name="E2 network siz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size: memory, time and quality</dc:title>
  <dc:subject>Research experiment E2 (5XPG0, Group 2)</dc:subject>
  <dc:creator>5XPG0 Group 2</dc:creator>
  <cp:keywords/>
  <dc:description>generated using python-pptx</dc:description>
  <cp:lastModifiedBy>5XPG0 Group 2</cp:lastModifiedBy>
  <cp:revision>1</cp:revision>
  <dcterms:created xsi:type="dcterms:W3CDTF">2013-01-27T09:14:16Z</dcterms:created>
  <dcterms:modified xsi:type="dcterms:W3CDTF">2013-01-27T09:15:58Z</dcterms:modified>
  <cp:category/>
</cp:coreProperties>
</file>